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Space Grotesk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689a6cd2-f89c-4c95-8537-776dca287e5a.fntdata" /><ns0:Relationship Id="rIdFont19" Type="http://schemas.openxmlformats.org/officeDocument/2006/relationships/font" Target="fonts/e65a592a-ef73-4b15-b352-23342500ca2d.fntdata" /><ns0:Relationship Id="rIdFont20" Type="http://schemas.openxmlformats.org/officeDocument/2006/relationships/font" Target="fonts/38c0afdf-da2f-484f-9908-e253d0ff73ce.fntdata" /><ns0:Relationship Id="rIdFont21" Type="http://schemas.openxmlformats.org/officeDocument/2006/relationships/font" Target="fonts/f1a3d2ed-f1cf-49bc-afa5-7113a098be8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18583"/>
            <a:ext cx="1800225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14625" y="4618583"/>
            <a:ext cx="18859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05375" y="4618583"/>
            <a:ext cx="1533525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4713833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4713833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825" y="4713833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858416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DATA ANALYTICS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10841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Customer Churn Analysis &amp; Risk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66083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An end-to-end relational database audit, data cleaning, customer behavior modeling, and SQL pipeline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4718595"/>
            <a:ext cx="1488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Python &amp;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2775" y="4718595"/>
            <a:ext cx="1595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SQLite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4718595"/>
            <a:ext cx="1190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Seaborn 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062287"/>
            <a:ext cx="2571750" cy="1438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9950" y="3062287"/>
            <a:ext cx="2571750" cy="1438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0300" y="3062287"/>
            <a:ext cx="2571750" cy="1438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10650" y="3062287"/>
            <a:ext cx="2571750" cy="1438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62287"/>
            <a:ext cx="38100" cy="1438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9950" y="3062287"/>
            <a:ext cx="38100" cy="14382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3062287"/>
            <a:ext cx="38100" cy="14382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0650" y="3062287"/>
            <a:ext cx="38100" cy="14382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Portfolio Highlights &amp; Dataset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90887"/>
            <a:ext cx="25955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284C7"/>
                </a:solidFill>
                <a:latin typeface="Plus Jakarta Sans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62387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Tracked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100512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Merged from 3 database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290887"/>
            <a:ext cx="25955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E11D48"/>
                </a:solidFill>
                <a:latin typeface="Plus Jakarta Sans"/>
              </a:rPr>
              <a:t>28.57%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650" y="3862387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Overall 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650" y="4100512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6 total cancelled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290887"/>
            <a:ext cx="25955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59669"/>
                </a:solidFill>
                <a:latin typeface="Plus Jakarta Sans"/>
              </a:rPr>
              <a:t>1,541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862387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Avg Tenure (Days)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4100512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Calculated active lifecycle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7350" y="3290887"/>
            <a:ext cx="25955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D97706"/>
                </a:solidFill>
                <a:latin typeface="Plus Jakarta Sans"/>
              </a:rPr>
              <a:t>₹73.94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7350" y="3862387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Monthly Lost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4100512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revenue impact of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1787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71787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71787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801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4801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4801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87" y="3252787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252787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252787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Relational Database Schemas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814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db_customer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957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Demographic records including Name, Location, Gender, and DOB.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510087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21 primary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6814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db_subscription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9957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Subscription types, Plan tiers, Monthly charges, CLTV, and Churn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510087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11 attributes per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681412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db_support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9957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Customer support tickets, Escalation flags, and CSAT ratings.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4510087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7 unique complaining entities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8012"/>
            <a:ext cx="2628900" cy="1533525"/>
          </a:xfrm>
          <a:prstGeom prst="roundRect">
            <a:avLst>
              <a:gd name="adj" fmla="val 6211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4801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3148012"/>
            <a:ext cx="2628900" cy="1533525"/>
          </a:xfrm>
          <a:prstGeom prst="roundRect">
            <a:avLst>
              <a:gd name="adj" fmla="val 6211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90900" y="314801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3148012"/>
            <a:ext cx="2628900" cy="1533525"/>
          </a:xfrm>
          <a:prstGeom prst="roundRect">
            <a:avLst>
              <a:gd name="adj" fmla="val 6211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314801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3148012"/>
            <a:ext cx="2628900" cy="1533525"/>
          </a:xfrm>
          <a:prstGeom prst="roundRect">
            <a:avLst>
              <a:gd name="adj" fmla="val 6211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14801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PIPELINE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 Wrangling &amp; 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338512"/>
            <a:ext cx="234315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3338512"/>
            <a:ext cx="234315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338512"/>
            <a:ext cx="234315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38512"/>
            <a:ext cx="234315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652837"/>
            <a:ext cx="29503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948112"/>
            <a:ext cx="2343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table loading via SQLite cursor &amp; Pandas read_sql.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3652837"/>
            <a:ext cx="29503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400" y="3948112"/>
            <a:ext cx="2343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State-to-Country mapping filled missing geographical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700" y="3652837"/>
            <a:ext cx="29503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3948112"/>
            <a:ext cx="2343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Harmonized string categoricals ('Men' to 'Male', 'Women' to 'Female').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2837"/>
            <a:ext cx="29503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Calculated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48112"/>
            <a:ext cx="2343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Synthesized Tenure Days, Churn Flag, and Age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860476"/>
            <a:ext cx="5572125" cy="2070496"/>
          </a:xfrm>
          <a:prstGeom prst="roundRect">
            <a:avLst>
              <a:gd name="adj" fmla="val 55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48037"/>
            <a:ext cx="4943475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8112"/>
            <a:ext cx="4943475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48187"/>
            <a:ext cx="4943475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48037"/>
            <a:ext cx="2965995" cy="1524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948112"/>
            <a:ext cx="1097309" cy="152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548187"/>
            <a:ext cx="706784" cy="152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TIER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Basic Plan Represents Primary Attrition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174801"/>
            <a:ext cx="5867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Analytical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3527226"/>
            <a:ext cx="50387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plan subscribers account for the highest proportion of cancellations due to price sensitivity and feature limitations.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129087"/>
            <a:ext cx="50387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Premium users demonstrate high retention (85.7%), confirming strong value alignment at higher price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90862"/>
            <a:ext cx="101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Basic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3090862"/>
            <a:ext cx="1750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11D48"/>
                </a:solidFill>
                <a:latin typeface="Plus Jakarta Sans"/>
              </a:rPr>
              <a:t>60.0% Churn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690937"/>
            <a:ext cx="1304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Standard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1950" y="3690937"/>
            <a:ext cx="1726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Plus Jakarta Sans"/>
              </a:rPr>
              <a:t>22.2% 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291012"/>
            <a:ext cx="1276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Premium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0" y="4291012"/>
            <a:ext cx="170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Plus Jakarta Sans"/>
              </a:rPr>
              <a:t>14.3% Churn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52750"/>
            <a:ext cx="5353050" cy="192405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24150"/>
            <a:ext cx="531495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52750"/>
            <a:ext cx="57150" cy="19240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Support Escalation Drives Immediate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257550"/>
            <a:ext cx="58578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BE123C"/>
                </a:solidFill>
                <a:latin typeface="Plus Jakarta Sans"/>
              </a:rPr>
              <a:t>19.05%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914775"/>
            <a:ext cx="5857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Overall Escalation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210050"/>
            <a:ext cx="4781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C0519"/>
                </a:solidFill>
                <a:latin typeface="Plus Jakarta Sans"/>
              </a:rPr>
              <a:t>High correlation between escalated support tickets and subscription cancellation within 30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038475"/>
            <a:ext cx="4781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Unresolved Support Tickets: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Escalated cases suffer low CSAT ratings (&lt;30/100).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686175"/>
            <a:ext cx="4781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Price Sensitivity Comments: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"Too expensive" and "Switched to competitor" are dominant cancellation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333875"/>
            <a:ext cx="4781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Intervention Opportunity: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Priority CSAT threshold alerts can prevent up to 80% of ticket-driven churn.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59326" y="2924175"/>
            <a:ext cx="4823073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59326" y="3867150"/>
            <a:ext cx="4823073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59326" y="2924175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59326" y="3867150"/>
            <a:ext cx="38100" cy="962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6925"/>
            <a:ext cx="5806826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76450"/>
            <a:ext cx="5787776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Seaborn Feature Correlation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7926" y="3114675"/>
            <a:ext cx="52040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Churn Score Correlation (+0.86)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7926" y="3352800"/>
            <a:ext cx="520407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Internal churn score strongly predicts actual churn flag outcome.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7926" y="4057650"/>
            <a:ext cx="52040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Escalation Linkage (+0.91)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7926" y="4295775"/>
            <a:ext cx="449922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Direct linkage confirmed between support ticket escalation and churn risk categorization.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7262"/>
            <a:ext cx="6026794" cy="2498824"/>
          </a:xfrm>
          <a:prstGeom prst="roundRect">
            <a:avLst>
              <a:gd name="adj" fmla="val 45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4611737"/>
            <a:ext cx="5569594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1194" y="2790825"/>
            <a:ext cx="464120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1194" y="3952875"/>
            <a:ext cx="464120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4611737"/>
            <a:ext cx="55695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41219" y="4591050"/>
            <a:ext cx="1954857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SQL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Automated SQLite Aggregation &amp;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855862"/>
            <a:ext cx="5664844" cy="204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Space Grotesk"/>
              </a:rPr>
              <a:t>SELECT first_name, SUM(budget) AS total_budget FROM users GROUP BY country;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55862"/>
            <a:ext cx="69619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-- Custom SQL Aggregation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41612"/>
            <a:ext cx="5664844" cy="1279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monospace"/>
              </a:rPr>
              <a:t>SELECT first_name, SUM(budget) AS total_budget FROM users GROUP BY country;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735562"/>
            <a:ext cx="69619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Space Grotesk"/>
              </a:rPr>
              <a:t>Executed via sqlite3 cursor connection in Python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219" y="2990850"/>
            <a:ext cx="505078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Dynamic Table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219" y="3257550"/>
            <a:ext cx="433640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Automated looping over SQLite system table catalog to construct modular dataframes.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219" y="4152900"/>
            <a:ext cx="505078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Export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219" y="4419600"/>
            <a:ext cx="433640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Exported cleaned unified master dataset to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8369" y="4610100"/>
            <a:ext cx="232927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monospace"/>
              </a:rPr>
              <a:t>exported_churn_data.csv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180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180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248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3248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3248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ACTIONABLE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Data-Driven Business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2480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433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Basic Tier Upgrade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38600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Incentivize Basic plan users to upgrade to Annual Standard plans to reduce 60% attrition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32480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433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Escalation SLA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38600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Fast-track resolution for escalated tickets to protect account revenue and boost CSAT scores.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550" y="32480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433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Early Warning Risk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38600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 alerts when Churn Risk Score exceeds threshold 50 to initiate retention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81412" y="4314825"/>
            <a:ext cx="4829175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4438650"/>
            <a:ext cx="180975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12468" y="2095500"/>
            <a:ext cx="316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GITHUB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8045" y="2447925"/>
            <a:ext cx="727590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Thank You for Reviewing!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219450"/>
            <a:ext cx="71437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Project repository includes Jupyter Notebooks, SQLite database script, cleaning scripts, and exported analytical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6890" y="4438650"/>
            <a:ext cx="5083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https://github.com/Dip1508/customer-churn-analysis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5941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https://miro.medium.com/v2/resize:fit:1400/1*_qfnbOemMxlVeLXT9q2xig.png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